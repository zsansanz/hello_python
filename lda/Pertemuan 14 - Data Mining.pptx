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2">
  <p:sldMasterIdLst>
    <p:sldMasterId id="2147483660" r:id="rId1"/>
  </p:sldMasterIdLst>
  <p:notesMasterIdLst>
    <p:notesMasterId r:id="rId13"/>
  </p:notesMasterIdLst>
  <p:sldIdLst>
    <p:sldId id="256" r:id="rId2"/>
    <p:sldId id="504" r:id="rId3"/>
    <p:sldId id="430" r:id="rId4"/>
    <p:sldId id="536" r:id="rId5"/>
    <p:sldId id="538" r:id="rId6"/>
    <p:sldId id="539" r:id="rId7"/>
    <p:sldId id="540" r:id="rId8"/>
    <p:sldId id="541" r:id="rId9"/>
    <p:sldId id="537" r:id="rId10"/>
    <p:sldId id="438" r:id="rId11"/>
    <p:sldId id="396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ira Sans Extra Condensed SemiBold" panose="020B0604020202020204" charset="0"/>
      <p:regular r:id="rId18"/>
      <p:bold r:id="rId19"/>
      <p:italic r:id="rId20"/>
      <p:boldItalic r:id="rId21"/>
    </p:embeddedFont>
    <p:embeddedFont>
      <p:font typeface="Fira Sans Extra Condensed" panose="020B0604020202020204" charset="0"/>
      <p:regular r:id="rId22"/>
      <p:bold r:id="rId23"/>
      <p:italic r:id="rId24"/>
      <p:boldItalic r:id="rId25"/>
    </p:embeddedFont>
    <p:embeddedFont>
      <p:font typeface="Robot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8adbe68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8adbe68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7671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c73459845_0_5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c73459845_0_5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 panose="020B0503050000020004" pitchFamily="34" charset="0"/>
                <a:ea typeface="Fira Sans Extra Condensed" panose="020B0503050000020004" pitchFamily="34" charset="0"/>
                <a:cs typeface="Fira Sans Extra Condensed" panose="020B0503050000020004" pitchFamily="34" charset="0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artengr.github.io/BERTopic/algorithm/algorithm.html" TargetMode="External"/><Relationship Id="rId2" Type="http://schemas.openxmlformats.org/officeDocument/2006/relationships/hyperlink" Target="https://arxiv.org/pdf/2203.05794.pdf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https://www.youtube.com/embed/yIPrgvuxJ5o?feature=oembed" TargetMode="External"/><Relationship Id="rId1" Type="http://schemas.openxmlformats.org/officeDocument/2006/relationships/video" Target="https://www.youtube.com/embed/uZxQz87lb84?feature=oembed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dosen02680@unpam.ac.i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1BED7E06-9B69-BF98-034C-77273C41C8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11966" y="1068145"/>
            <a:ext cx="5085924" cy="10965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Data Mining</a:t>
            </a:r>
            <a:br>
              <a:rPr lang="en" sz="2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" sz="2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(T</a:t>
            </a:r>
            <a:r>
              <a:rPr lang="en-US" sz="28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ext</a:t>
            </a:r>
            <a:r>
              <a:rPr lang="en-US" sz="2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Mining)</a:t>
            </a:r>
            <a:endParaRPr sz="28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59;p15">
            <a:extLst>
              <a:ext uri="{FF2B5EF4-FFF2-40B4-BE49-F238E27FC236}">
                <a16:creationId xmlns:a16="http://schemas.microsoft.com/office/drawing/2014/main" id="{018A834A-A4C7-056B-B680-FDBC74286809}"/>
              </a:ext>
            </a:extLst>
          </p:cNvPr>
          <p:cNvSpPr/>
          <p:nvPr/>
        </p:nvSpPr>
        <p:spPr>
          <a:xfrm rot="5400000">
            <a:off x="7464244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" name="Google Shape;60;p15">
            <a:extLst>
              <a:ext uri="{FF2B5EF4-FFF2-40B4-BE49-F238E27FC236}">
                <a16:creationId xmlns:a16="http://schemas.microsoft.com/office/drawing/2014/main" id="{9FEC12CE-BEC5-B468-43FC-076DD3863613}"/>
              </a:ext>
            </a:extLst>
          </p:cNvPr>
          <p:cNvSpPr/>
          <p:nvPr/>
        </p:nvSpPr>
        <p:spPr>
          <a:xfrm rot="5400000">
            <a:off x="6633319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" name="Google Shape;61;p15">
            <a:extLst>
              <a:ext uri="{FF2B5EF4-FFF2-40B4-BE49-F238E27FC236}">
                <a16:creationId xmlns:a16="http://schemas.microsoft.com/office/drawing/2014/main" id="{A907F9EC-D840-5E8B-E6BE-FB7268FEAFBD}"/>
              </a:ext>
            </a:extLst>
          </p:cNvPr>
          <p:cNvSpPr/>
          <p:nvPr/>
        </p:nvSpPr>
        <p:spPr>
          <a:xfrm rot="5400000">
            <a:off x="5802394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" name="Google Shape;62;p15">
            <a:extLst>
              <a:ext uri="{FF2B5EF4-FFF2-40B4-BE49-F238E27FC236}">
                <a16:creationId xmlns:a16="http://schemas.microsoft.com/office/drawing/2014/main" id="{164DE8E5-503B-A24B-94FE-DBCD80775D21}"/>
              </a:ext>
            </a:extLst>
          </p:cNvPr>
          <p:cNvSpPr/>
          <p:nvPr/>
        </p:nvSpPr>
        <p:spPr>
          <a:xfrm rot="5400000">
            <a:off x="4971469" y="3469259"/>
            <a:ext cx="692400" cy="692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" name="Google Shape;63;p15">
            <a:extLst>
              <a:ext uri="{FF2B5EF4-FFF2-40B4-BE49-F238E27FC236}">
                <a16:creationId xmlns:a16="http://schemas.microsoft.com/office/drawing/2014/main" id="{8EB22D04-135D-F952-66E5-EC7125372085}"/>
              </a:ext>
            </a:extLst>
          </p:cNvPr>
          <p:cNvSpPr/>
          <p:nvPr/>
        </p:nvSpPr>
        <p:spPr>
          <a:xfrm rot="5400000">
            <a:off x="5980990" y="962641"/>
            <a:ext cx="1230000" cy="1268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2;p15">
            <a:extLst>
              <a:ext uri="{FF2B5EF4-FFF2-40B4-BE49-F238E27FC236}">
                <a16:creationId xmlns:a16="http://schemas.microsoft.com/office/drawing/2014/main" id="{CD8E4208-E438-DFE2-8F1F-255E95486EEE}"/>
              </a:ext>
            </a:extLst>
          </p:cNvPr>
          <p:cNvSpPr/>
          <p:nvPr/>
        </p:nvSpPr>
        <p:spPr>
          <a:xfrm>
            <a:off x="5838205" y="1687645"/>
            <a:ext cx="1450500" cy="28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Mining</a:t>
            </a:r>
            <a:endParaRPr sz="19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4" name="Google Shape;73;p15">
            <a:extLst>
              <a:ext uri="{FF2B5EF4-FFF2-40B4-BE49-F238E27FC236}">
                <a16:creationId xmlns:a16="http://schemas.microsoft.com/office/drawing/2014/main" id="{1972F8BB-FE56-C23F-DE16-35C1B10C6615}"/>
              </a:ext>
            </a:extLst>
          </p:cNvPr>
          <p:cNvCxnSpPr>
            <a:stCxn id="12" idx="3"/>
            <a:endCxn id="11" idx="2"/>
          </p:cNvCxnSpPr>
          <p:nvPr/>
        </p:nvCxnSpPr>
        <p:spPr>
          <a:xfrm rot="5400000">
            <a:off x="5328190" y="2201341"/>
            <a:ext cx="1257300" cy="12783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74;p15">
            <a:extLst>
              <a:ext uri="{FF2B5EF4-FFF2-40B4-BE49-F238E27FC236}">
                <a16:creationId xmlns:a16="http://schemas.microsoft.com/office/drawing/2014/main" id="{79E73E4C-915B-D039-BEB4-7B546FD70294}"/>
              </a:ext>
            </a:extLst>
          </p:cNvPr>
          <p:cNvCxnSpPr>
            <a:stCxn id="12" idx="3"/>
            <a:endCxn id="10" idx="2"/>
          </p:cNvCxnSpPr>
          <p:nvPr/>
        </p:nvCxnSpPr>
        <p:spPr>
          <a:xfrm rot="5400000">
            <a:off x="5743690" y="2616841"/>
            <a:ext cx="1257300" cy="4473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75;p15">
            <a:extLst>
              <a:ext uri="{FF2B5EF4-FFF2-40B4-BE49-F238E27FC236}">
                <a16:creationId xmlns:a16="http://schemas.microsoft.com/office/drawing/2014/main" id="{451F7C24-69DD-2862-1EC2-B1B8A46FE8F5}"/>
              </a:ext>
            </a:extLst>
          </p:cNvPr>
          <p:cNvCxnSpPr>
            <a:stCxn id="12" idx="3"/>
            <a:endCxn id="9" idx="2"/>
          </p:cNvCxnSpPr>
          <p:nvPr/>
        </p:nvCxnSpPr>
        <p:spPr>
          <a:xfrm rot="-5400000" flipH="1">
            <a:off x="6159040" y="2648791"/>
            <a:ext cx="1257300" cy="3834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76;p15">
            <a:extLst>
              <a:ext uri="{FF2B5EF4-FFF2-40B4-BE49-F238E27FC236}">
                <a16:creationId xmlns:a16="http://schemas.microsoft.com/office/drawing/2014/main" id="{8295AF00-3CB5-8986-6B26-F90B706C7A7B}"/>
              </a:ext>
            </a:extLst>
          </p:cNvPr>
          <p:cNvCxnSpPr>
            <a:stCxn id="12" idx="3"/>
            <a:endCxn id="8" idx="2"/>
          </p:cNvCxnSpPr>
          <p:nvPr/>
        </p:nvCxnSpPr>
        <p:spPr>
          <a:xfrm rot="-5400000" flipH="1">
            <a:off x="6574540" y="2233291"/>
            <a:ext cx="1257300" cy="12144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" name="Google Shape;77;p15">
            <a:extLst>
              <a:ext uri="{FF2B5EF4-FFF2-40B4-BE49-F238E27FC236}">
                <a16:creationId xmlns:a16="http://schemas.microsoft.com/office/drawing/2014/main" id="{56044678-8CAE-0B5F-ACD5-DE474E7BD281}"/>
              </a:ext>
            </a:extLst>
          </p:cNvPr>
          <p:cNvGrpSpPr/>
          <p:nvPr/>
        </p:nvGrpSpPr>
        <p:grpSpPr>
          <a:xfrm>
            <a:off x="5142093" y="3632583"/>
            <a:ext cx="351136" cy="365769"/>
            <a:chOff x="-65129950" y="2646800"/>
            <a:chExt cx="311125" cy="317425"/>
          </a:xfrm>
        </p:grpSpPr>
        <p:sp>
          <p:nvSpPr>
            <p:cNvPr id="19" name="Google Shape;78;p15">
              <a:extLst>
                <a:ext uri="{FF2B5EF4-FFF2-40B4-BE49-F238E27FC236}">
                  <a16:creationId xmlns:a16="http://schemas.microsoft.com/office/drawing/2014/main" id="{0141F368-983E-A514-1E60-F871BC2C4875}"/>
                </a:ext>
              </a:extLst>
            </p:cNvPr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;p15">
              <a:extLst>
                <a:ext uri="{FF2B5EF4-FFF2-40B4-BE49-F238E27FC236}">
                  <a16:creationId xmlns:a16="http://schemas.microsoft.com/office/drawing/2014/main" id="{CF9B92AB-376E-8902-231C-0268A6D46FAB}"/>
                </a:ext>
              </a:extLst>
            </p:cNvPr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80;p15">
            <a:extLst>
              <a:ext uri="{FF2B5EF4-FFF2-40B4-BE49-F238E27FC236}">
                <a16:creationId xmlns:a16="http://schemas.microsoft.com/office/drawing/2014/main" id="{D0BCEF52-0E11-BDB4-F6D8-B91A8DC45216}"/>
              </a:ext>
            </a:extLst>
          </p:cNvPr>
          <p:cNvGrpSpPr/>
          <p:nvPr/>
        </p:nvGrpSpPr>
        <p:grpSpPr>
          <a:xfrm>
            <a:off x="5965703" y="3632603"/>
            <a:ext cx="365756" cy="365747"/>
            <a:chOff x="1412450" y="1954475"/>
            <a:chExt cx="297750" cy="296175"/>
          </a:xfrm>
        </p:grpSpPr>
        <p:sp>
          <p:nvSpPr>
            <p:cNvPr id="22" name="Google Shape;81;p15">
              <a:extLst>
                <a:ext uri="{FF2B5EF4-FFF2-40B4-BE49-F238E27FC236}">
                  <a16:creationId xmlns:a16="http://schemas.microsoft.com/office/drawing/2014/main" id="{442AB2B1-71C6-83D4-A9F3-0F917BA9261A}"/>
                </a:ext>
              </a:extLst>
            </p:cNvPr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2;p15">
              <a:extLst>
                <a:ext uri="{FF2B5EF4-FFF2-40B4-BE49-F238E27FC236}">
                  <a16:creationId xmlns:a16="http://schemas.microsoft.com/office/drawing/2014/main" id="{D14CD7A4-316B-B226-0384-447E19A75F88}"/>
                </a:ext>
              </a:extLst>
            </p:cNvPr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83;p15">
            <a:extLst>
              <a:ext uri="{FF2B5EF4-FFF2-40B4-BE49-F238E27FC236}">
                <a16:creationId xmlns:a16="http://schemas.microsoft.com/office/drawing/2014/main" id="{2234DFB1-6DD2-8552-3277-E998AA6D2E1A}"/>
              </a:ext>
            </a:extLst>
          </p:cNvPr>
          <p:cNvGrpSpPr/>
          <p:nvPr/>
        </p:nvGrpSpPr>
        <p:grpSpPr>
          <a:xfrm>
            <a:off x="6782916" y="3632592"/>
            <a:ext cx="393186" cy="365766"/>
            <a:chOff x="-62890750" y="2296300"/>
            <a:chExt cx="330825" cy="317450"/>
          </a:xfrm>
        </p:grpSpPr>
        <p:sp>
          <p:nvSpPr>
            <p:cNvPr id="25" name="Google Shape;84;p15">
              <a:extLst>
                <a:ext uri="{FF2B5EF4-FFF2-40B4-BE49-F238E27FC236}">
                  <a16:creationId xmlns:a16="http://schemas.microsoft.com/office/drawing/2014/main" id="{1401EB7B-B091-30F8-6F35-C238CB6A4BA3}"/>
                </a:ext>
              </a:extLst>
            </p:cNvPr>
            <p:cNvSpPr/>
            <p:nvPr/>
          </p:nvSpPr>
          <p:spPr>
            <a:xfrm>
              <a:off x="-62890750" y="2296300"/>
              <a:ext cx="313500" cy="195375"/>
            </a:xfrm>
            <a:custGeom>
              <a:avLst/>
              <a:gdLst/>
              <a:ahLst/>
              <a:cxnLst/>
              <a:rect l="l" t="t" r="r" b="b"/>
              <a:pathLst>
                <a:path w="12540" h="7815" extrusionOk="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;p15">
              <a:extLst>
                <a:ext uri="{FF2B5EF4-FFF2-40B4-BE49-F238E27FC236}">
                  <a16:creationId xmlns:a16="http://schemas.microsoft.com/office/drawing/2014/main" id="{50EB913D-901B-6D82-3561-3E6A47E94C45}"/>
                </a:ext>
              </a:extLst>
            </p:cNvPr>
            <p:cNvSpPr/>
            <p:nvPr/>
          </p:nvSpPr>
          <p:spPr>
            <a:xfrm>
              <a:off x="-62874975" y="2417475"/>
              <a:ext cx="315050" cy="196275"/>
            </a:xfrm>
            <a:custGeom>
              <a:avLst/>
              <a:gdLst/>
              <a:ahLst/>
              <a:cxnLst/>
              <a:rect l="l" t="t" r="r" b="b"/>
              <a:pathLst>
                <a:path w="12602" h="7851" extrusionOk="0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6;p15">
              <a:extLst>
                <a:ext uri="{FF2B5EF4-FFF2-40B4-BE49-F238E27FC236}">
                  <a16:creationId xmlns:a16="http://schemas.microsoft.com/office/drawing/2014/main" id="{F0323E84-DB61-BB63-2897-C66D8365D0BA}"/>
                </a:ext>
              </a:extLst>
            </p:cNvPr>
            <p:cNvSpPr/>
            <p:nvPr/>
          </p:nvSpPr>
          <p:spPr>
            <a:xfrm>
              <a:off x="-62822225" y="2357750"/>
              <a:ext cx="193000" cy="192975"/>
            </a:xfrm>
            <a:custGeom>
              <a:avLst/>
              <a:gdLst/>
              <a:ahLst/>
              <a:cxnLst/>
              <a:rect l="l" t="t" r="r" b="b"/>
              <a:pathLst>
                <a:path w="7720" h="7719" extrusionOk="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87;p15">
            <a:extLst>
              <a:ext uri="{FF2B5EF4-FFF2-40B4-BE49-F238E27FC236}">
                <a16:creationId xmlns:a16="http://schemas.microsoft.com/office/drawing/2014/main" id="{168D6A21-B8C7-423D-C918-8F64BA8F8952}"/>
              </a:ext>
            </a:extLst>
          </p:cNvPr>
          <p:cNvGrpSpPr/>
          <p:nvPr/>
        </p:nvGrpSpPr>
        <p:grpSpPr>
          <a:xfrm>
            <a:off x="7627546" y="3632577"/>
            <a:ext cx="365770" cy="365770"/>
            <a:chOff x="-3137650" y="2408950"/>
            <a:chExt cx="291450" cy="292125"/>
          </a:xfrm>
        </p:grpSpPr>
        <p:sp>
          <p:nvSpPr>
            <p:cNvPr id="29" name="Google Shape;88;p15">
              <a:extLst>
                <a:ext uri="{FF2B5EF4-FFF2-40B4-BE49-F238E27FC236}">
                  <a16:creationId xmlns:a16="http://schemas.microsoft.com/office/drawing/2014/main" id="{0E571537-EBFA-C6E8-9599-A11766B740AA}"/>
                </a:ext>
              </a:extLst>
            </p:cNvPr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9;p15">
              <a:extLst>
                <a:ext uri="{FF2B5EF4-FFF2-40B4-BE49-F238E27FC236}">
                  <a16:creationId xmlns:a16="http://schemas.microsoft.com/office/drawing/2014/main" id="{0EE3365C-D0B7-CC15-90BB-54546D4E8832}"/>
                </a:ext>
              </a:extLst>
            </p:cNvPr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0;p15">
              <a:extLst>
                <a:ext uri="{FF2B5EF4-FFF2-40B4-BE49-F238E27FC236}">
                  <a16:creationId xmlns:a16="http://schemas.microsoft.com/office/drawing/2014/main" id="{D0D7F7BD-11CB-C5AE-2EA9-8282FD443FA8}"/>
                </a:ext>
              </a:extLst>
            </p:cNvPr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1;p15">
              <a:extLst>
                <a:ext uri="{FF2B5EF4-FFF2-40B4-BE49-F238E27FC236}">
                  <a16:creationId xmlns:a16="http://schemas.microsoft.com/office/drawing/2014/main" id="{86555385-4CC1-83DC-B897-CB5AE6B0A53B}"/>
                </a:ext>
              </a:extLst>
            </p:cNvPr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2;p15">
              <a:extLst>
                <a:ext uri="{FF2B5EF4-FFF2-40B4-BE49-F238E27FC236}">
                  <a16:creationId xmlns:a16="http://schemas.microsoft.com/office/drawing/2014/main" id="{44BF13F4-9CF5-C3B4-532D-2D6CC82314F4}"/>
                </a:ext>
              </a:extLst>
            </p:cNvPr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557656B5-F1B6-9C85-02DA-607AC5A56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875" y="1036298"/>
            <a:ext cx="600229" cy="60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5070857-B857-4025-990C-B9BC00E8030D}"/>
              </a:ext>
            </a:extLst>
          </p:cNvPr>
          <p:cNvSpPr txBox="1"/>
          <p:nvPr/>
        </p:nvSpPr>
        <p:spPr>
          <a:xfrm>
            <a:off x="814894" y="3413571"/>
            <a:ext cx="27583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</a:pPr>
            <a:r>
              <a:rPr lang="en" dirty="0">
                <a:latin typeface="+mj-lt"/>
              </a:rPr>
              <a:t>Dr.Ir.Agung Budi Susanto, MM</a:t>
            </a:r>
          </a:p>
          <a:p>
            <a:pPr marL="0" indent="0">
              <a:lnSpc>
                <a:spcPct val="100000"/>
              </a:lnSpc>
            </a:pPr>
            <a:r>
              <a:rPr lang="en" dirty="0">
                <a:latin typeface="+mj-lt"/>
              </a:rPr>
              <a:t>NIDK.8811620016</a:t>
            </a:r>
          </a:p>
          <a:p>
            <a:pPr marL="0" indent="0">
              <a:lnSpc>
                <a:spcPct val="100000"/>
              </a:lnSpc>
            </a:pPr>
            <a:endParaRPr lang="en" dirty="0">
              <a:latin typeface="+mj-lt"/>
            </a:endParaRPr>
          </a:p>
          <a:p>
            <a:pPr marL="0" indent="0">
              <a:lnSpc>
                <a:spcPct val="100000"/>
              </a:lnSpc>
            </a:pPr>
            <a:r>
              <a:rPr lang="en" dirty="0">
                <a:latin typeface="+mj-lt"/>
              </a:rPr>
              <a:t>Dr. Sajarwo Anggai, S.ST., M.T.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sz="1400" dirty="0"/>
              <a:t>NIDN : 0421108703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E3AC-5AC5-EE52-1AA2-28BC66F5A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1000"/>
            <a:ext cx="8229600" cy="481500"/>
          </a:xfrm>
        </p:spPr>
        <p:txBody>
          <a:bodyPr/>
          <a:lstStyle/>
          <a:p>
            <a:r>
              <a:rPr lang="en-US" dirty="0" err="1"/>
              <a:t>Pertemuan</a:t>
            </a:r>
            <a:r>
              <a:rPr lang="en-US" dirty="0"/>
              <a:t> 14</a:t>
            </a:r>
            <a:br>
              <a:rPr lang="en-US" dirty="0"/>
            </a:br>
            <a:r>
              <a:rPr lang="en-US" dirty="0"/>
              <a:t>(Topic Model : </a:t>
            </a:r>
            <a:r>
              <a:rPr lang="en-US" dirty="0" err="1"/>
              <a:t>BERTopic</a:t>
            </a:r>
            <a:r>
              <a:rPr lang="en-US" dirty="0"/>
              <a:t>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7440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 itu Pemodelan Topik?</a:t>
            </a:r>
            <a:b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A112E-BFC2-DA55-5C88-6F42AC0D56C2}"/>
              </a:ext>
            </a:extLst>
          </p:cNvPr>
          <p:cNvSpPr txBox="1"/>
          <p:nvPr/>
        </p:nvSpPr>
        <p:spPr>
          <a:xfrm>
            <a:off x="553064" y="1038706"/>
            <a:ext cx="80378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Topic modeling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adalah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teknik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dalam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NLP yang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digunakan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untuk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mengidentifikasi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dan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mengekstrak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topik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atau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tema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yang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tersembunyi</a:t>
            </a:r>
            <a:r>
              <a:rPr lang="en-US" sz="1800" dirty="0">
                <a:solidFill>
                  <a:srgbClr val="242021"/>
                </a:solidFill>
                <a:latin typeface="+mj-lt"/>
              </a:rPr>
              <a:t> (latent topic)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dalam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sebuah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koleksi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dokumen</a:t>
            </a:r>
            <a:r>
              <a:rPr lang="en-US" sz="1800" dirty="0">
                <a:solidFill>
                  <a:srgbClr val="242021"/>
                </a:solidFill>
                <a:latin typeface="+mj-lt"/>
              </a:rPr>
              <a:t>,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teks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+mj-lt"/>
              </a:rPr>
              <a:t>maupun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+mj-lt"/>
              </a:rPr>
              <a:t> dataset. </a:t>
            </a:r>
          </a:p>
          <a:p>
            <a:pPr algn="just"/>
            <a:endParaRPr lang="en-US" sz="1800" dirty="0">
              <a:solidFill>
                <a:srgbClr val="24202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Clustering/Classifying Documents/Texts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Searching Information (information/topic discovery)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Sentiment Analyst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Analyst Trend and News (e.g. controversial topic detection, product analyst, global issues, content ranking by theme)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Recommender System (content based, personalized)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Customer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42021"/>
                </a:solidFill>
                <a:latin typeface="+mj-lt"/>
              </a:rPr>
              <a:t>Academic Research</a:t>
            </a:r>
          </a:p>
        </p:txBody>
      </p:sp>
    </p:spTree>
    <p:extLst>
      <p:ext uri="{BB962C8B-B14F-4D97-AF65-F5344CB8AC3E}">
        <p14:creationId xmlns:p14="http://schemas.microsoft.com/office/powerpoint/2010/main" val="275647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6AFA73-048C-324F-F3D5-F15588A9498F}"/>
              </a:ext>
            </a:extLst>
          </p:cNvPr>
          <p:cNvSpPr txBox="1"/>
          <p:nvPr/>
        </p:nvSpPr>
        <p:spPr>
          <a:xfrm>
            <a:off x="4693925" y="3672173"/>
            <a:ext cx="38785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800" dirty="0"/>
          </a:p>
          <a:p>
            <a:pPr algn="ctr"/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Grootendorst</a:t>
            </a:r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 </a:t>
            </a:r>
            <a:r>
              <a:rPr kumimoji="0" lang="en-US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M. (2022). </a:t>
            </a:r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BERTopic</a:t>
            </a:r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: Neural </a:t>
            </a:r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topic</a:t>
            </a:r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 modeling </a:t>
            </a:r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with</a:t>
            </a:r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 a </a:t>
            </a:r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class-based</a:t>
            </a:r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 TF-IDF </a:t>
            </a:r>
            <a:r>
              <a:rPr kumimoji="0" lang="id-ID" altLang="id-ID" sz="1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ui-monospace"/>
                <a:hlinkClick r:id="rId2"/>
              </a:rPr>
              <a:t>procedure</a:t>
            </a:r>
            <a:r>
              <a:rPr lang="en-US" altLang="id-ID" sz="1000" dirty="0">
                <a:solidFill>
                  <a:srgbClr val="1F2328"/>
                </a:solidFill>
                <a:latin typeface="ui-monospace"/>
                <a:hlinkClick r:id="rId2"/>
              </a:rPr>
              <a:t>, </a:t>
            </a:r>
            <a:r>
              <a:rPr lang="en-US" altLang="id-ID" sz="1000" dirty="0" err="1">
                <a:solidFill>
                  <a:srgbClr val="1F2328"/>
                </a:solidFill>
                <a:latin typeface="ui-monospace"/>
                <a:hlinkClick r:id="rId2"/>
              </a:rPr>
              <a:t>arXiv</a:t>
            </a:r>
            <a:r>
              <a:rPr lang="en-US" altLang="id-ID" sz="1000" dirty="0">
                <a:solidFill>
                  <a:srgbClr val="1F2328"/>
                </a:solidFill>
                <a:latin typeface="ui-monospace"/>
                <a:hlinkClick r:id="rId2"/>
              </a:rPr>
              <a:t> preprint arXiv:2203.05794 </a:t>
            </a:r>
            <a:endParaRPr lang="en-US" altLang="id-ID" sz="1000" dirty="0">
              <a:solidFill>
                <a:srgbClr val="1F2328"/>
              </a:solidFill>
              <a:latin typeface="ui-monospace"/>
            </a:endParaRPr>
          </a:p>
          <a:p>
            <a:pPr algn="ctr"/>
            <a:endParaRPr lang="en-US" altLang="id-ID" sz="1000" dirty="0">
              <a:solidFill>
                <a:srgbClr val="1F2328"/>
              </a:solidFill>
              <a:latin typeface="ui-monospace"/>
            </a:endParaRPr>
          </a:p>
          <a:p>
            <a:pPr algn="ctr"/>
            <a:r>
              <a:rPr kumimoji="0" lang="id-ID" altLang="id-ID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https://maartengr.github.io/BERTopic/algorithm/algorithm.html</a:t>
            </a:r>
            <a:r>
              <a:rPr kumimoji="0" lang="en-US" altLang="id-ID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id-ID" altLang="id-ID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US" sz="800" dirty="0">
              <a:hlinkClick r:id="rId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B2D60-D010-5CE2-0CFA-BB4944E74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90" y="993925"/>
            <a:ext cx="3177570" cy="1772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040E26-032F-9F6C-39B1-840F10ED2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" y="2867806"/>
            <a:ext cx="3878580" cy="1898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67EFE-6573-CD84-6A58-668AFAB50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6363" y="994273"/>
            <a:ext cx="4793704" cy="24194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1F0992-A373-27ED-7592-FAC0ADD90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084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d-ID" altLang="id-I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A75BDC-ED1B-383E-3003-27CC4B332327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8229600" cy="74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 panose="020B0503050000020004" pitchFamily="34" charset="0"/>
                <a:ea typeface="Fira Sans Extra Condensed" panose="020B0503050000020004" pitchFamily="34" charset="0"/>
                <a:cs typeface="Fira Sans Extra Condensed" panose="020B0503050000020004" pitchFamily="34" charset="0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rPr lang="en-US" sz="2400" dirty="0"/>
              <a:t>Bidirectional Encoder Representations from Transformers Topic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BERTopic</a:t>
            </a:r>
            <a:r>
              <a:rPr lang="en-US" sz="2400" dirty="0"/>
              <a:t>)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225945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85CD-D295-A2D2-17F3-36630F51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D194B-1BB8-BEDA-92E7-854BE085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3" y="0"/>
            <a:ext cx="9083827" cy="4625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714C23-E7D4-7889-D175-16F686275BE4}"/>
              </a:ext>
            </a:extLst>
          </p:cNvPr>
          <p:cNvSpPr txBox="1"/>
          <p:nvPr/>
        </p:nvSpPr>
        <p:spPr>
          <a:xfrm>
            <a:off x="2385237" y="4732025"/>
            <a:ext cx="4600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100" dirty="0"/>
              <a:t>https://maartengr.github.io/BERTopic/algorithm/algorithm.html</a:t>
            </a:r>
          </a:p>
        </p:txBody>
      </p:sp>
    </p:spTree>
    <p:extLst>
      <p:ext uri="{BB962C8B-B14F-4D97-AF65-F5344CB8AC3E}">
        <p14:creationId xmlns:p14="http://schemas.microsoft.com/office/powerpoint/2010/main" val="21032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6E52-A4E2-60C0-8CE2-E38E977D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B9328-196E-C40C-6475-F2CC914A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06" y="149865"/>
            <a:ext cx="8443814" cy="4460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B6BE0F-2B22-E903-CF7B-6F3B31E02433}"/>
              </a:ext>
            </a:extLst>
          </p:cNvPr>
          <p:cNvSpPr txBox="1"/>
          <p:nvPr/>
        </p:nvSpPr>
        <p:spPr>
          <a:xfrm>
            <a:off x="2385237" y="4732025"/>
            <a:ext cx="4600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100" dirty="0"/>
              <a:t>https://maartengr.github.io/BERTopic/algorithm/algorithm.html</a:t>
            </a:r>
          </a:p>
        </p:txBody>
      </p:sp>
    </p:spTree>
    <p:extLst>
      <p:ext uri="{BB962C8B-B14F-4D97-AF65-F5344CB8AC3E}">
        <p14:creationId xmlns:p14="http://schemas.microsoft.com/office/powerpoint/2010/main" val="171236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07455-0183-98E1-D01F-0057D517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635" y="-19464"/>
            <a:ext cx="5083556" cy="47514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0451AB-449D-443B-47E8-608AAD8203CB}"/>
              </a:ext>
            </a:extLst>
          </p:cNvPr>
          <p:cNvSpPr txBox="1"/>
          <p:nvPr/>
        </p:nvSpPr>
        <p:spPr>
          <a:xfrm>
            <a:off x="2385237" y="4732025"/>
            <a:ext cx="4600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100" dirty="0"/>
              <a:t>https://maartengr.github.io/BERTopic/algorithm/algorithm.html</a:t>
            </a:r>
          </a:p>
        </p:txBody>
      </p:sp>
    </p:spTree>
    <p:extLst>
      <p:ext uri="{BB962C8B-B14F-4D97-AF65-F5344CB8AC3E}">
        <p14:creationId xmlns:p14="http://schemas.microsoft.com/office/powerpoint/2010/main" val="308911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9BFF-1022-3D35-8549-308BC589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B891B-8EFC-B1F0-372F-C6905408D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9" y="32401"/>
            <a:ext cx="5140037" cy="471956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16861-CF20-50BB-B77A-C6EBF4138B18}"/>
              </a:ext>
            </a:extLst>
          </p:cNvPr>
          <p:cNvSpPr txBox="1"/>
          <p:nvPr/>
        </p:nvSpPr>
        <p:spPr>
          <a:xfrm>
            <a:off x="2285999" y="475196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000" dirty="0"/>
              <a:t>https://maartengr.github.io/BERTopic/getting_started/quickstart/quickstart.html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3BF4A-5327-3722-12B6-4AE5FE30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01" y="411476"/>
            <a:ext cx="3727050" cy="4340486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1D34C3-69F2-0CB0-29DF-EF8E7059A208}"/>
              </a:ext>
            </a:extLst>
          </p:cNvPr>
          <p:cNvSpPr/>
          <p:nvPr/>
        </p:nvSpPr>
        <p:spPr>
          <a:xfrm>
            <a:off x="81747" y="652225"/>
            <a:ext cx="935665" cy="1141228"/>
          </a:xfrm>
          <a:prstGeom prst="roundRect">
            <a:avLst>
              <a:gd name="adj" fmla="val 303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2B5E47-C4DC-F93D-3F3E-9BBEC696DE95}"/>
              </a:ext>
            </a:extLst>
          </p:cNvPr>
          <p:cNvSpPr/>
          <p:nvPr/>
        </p:nvSpPr>
        <p:spPr>
          <a:xfrm>
            <a:off x="81748" y="1850066"/>
            <a:ext cx="935665" cy="800986"/>
          </a:xfrm>
          <a:prstGeom prst="roundRect">
            <a:avLst>
              <a:gd name="adj" fmla="val 303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B02D89-D1A3-4A51-F3A4-6226BEC28B1D}"/>
              </a:ext>
            </a:extLst>
          </p:cNvPr>
          <p:cNvSpPr/>
          <p:nvPr/>
        </p:nvSpPr>
        <p:spPr>
          <a:xfrm>
            <a:off x="81749" y="2714845"/>
            <a:ext cx="935665" cy="1141228"/>
          </a:xfrm>
          <a:prstGeom prst="roundRect">
            <a:avLst>
              <a:gd name="adj" fmla="val 303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8293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BE38-0EB3-8224-0BEC-B5621C0A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Tambahan</a:t>
            </a:r>
            <a:endParaRPr lang="id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A299B-9176-5B69-01D5-91F25E05D5C7}"/>
              </a:ext>
            </a:extLst>
          </p:cNvPr>
          <p:cNvSpPr txBox="1"/>
          <p:nvPr/>
        </p:nvSpPr>
        <p:spPr>
          <a:xfrm>
            <a:off x="549349" y="4325963"/>
            <a:ext cx="4256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100" dirty="0"/>
              <a:t>https://www.youtube.com/watch?v=uZxQz87lb84</a:t>
            </a:r>
          </a:p>
        </p:txBody>
      </p:sp>
      <p:pic>
        <p:nvPicPr>
          <p:cNvPr id="7" name="Online Media 6" title="BERTopic for Topic Modeling - Maarten Grootendorst - Talking Language AI Ep#1">
            <a:hlinkClick r:id="" action="ppaction://media"/>
            <a:extLst>
              <a:ext uri="{FF2B5EF4-FFF2-40B4-BE49-F238E27FC236}">
                <a16:creationId xmlns:a16="http://schemas.microsoft.com/office/drawing/2014/main" id="{13677161-37A1-2F7D-C1C3-9379BD58CAA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51854" y="1512184"/>
            <a:ext cx="4256351" cy="2402958"/>
          </a:xfrm>
          <a:prstGeom prst="rect">
            <a:avLst/>
          </a:prstGeom>
        </p:spPr>
      </p:pic>
      <p:pic>
        <p:nvPicPr>
          <p:cNvPr id="8" name="Online Media 7" title="BERTopic : Topic Modelling with Transformer Embeddings , arxiv dataset python demo #NLP #tutorial">
            <a:hlinkClick r:id="" action="ppaction://media"/>
            <a:extLst>
              <a:ext uri="{FF2B5EF4-FFF2-40B4-BE49-F238E27FC236}">
                <a16:creationId xmlns:a16="http://schemas.microsoft.com/office/drawing/2014/main" id="{76AE6702-7F32-D66B-E142-235F66C94CDA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4666029" y="1512184"/>
            <a:ext cx="4256352" cy="24029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5F6AB2-262D-32FE-22BB-6AB3959B1D30}"/>
              </a:ext>
            </a:extLst>
          </p:cNvPr>
          <p:cNvSpPr txBox="1"/>
          <p:nvPr/>
        </p:nvSpPr>
        <p:spPr>
          <a:xfrm>
            <a:off x="4508205" y="4325963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100" dirty="0"/>
              <a:t>https://youtu.be/yIPrgvuxJ5o?si=_PGhBLuanJE5N087</a:t>
            </a:r>
          </a:p>
        </p:txBody>
      </p:sp>
    </p:spTree>
    <p:extLst>
      <p:ext uri="{BB962C8B-B14F-4D97-AF65-F5344CB8AC3E}">
        <p14:creationId xmlns:p14="http://schemas.microsoft.com/office/powerpoint/2010/main" val="402540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0685-F9BB-B01A-18D0-7F96F97D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id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1B4F4-30ED-2722-9CA3-93A23BCE86D5}"/>
              </a:ext>
            </a:extLst>
          </p:cNvPr>
          <p:cNvSpPr txBox="1"/>
          <p:nvPr/>
        </p:nvSpPr>
        <p:spPr>
          <a:xfrm>
            <a:off x="668935" y="1509774"/>
            <a:ext cx="80178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Buatlah</a:t>
            </a:r>
            <a:r>
              <a:rPr lang="en-US" sz="2000" dirty="0" smtClean="0"/>
              <a:t> Model </a:t>
            </a:r>
            <a:r>
              <a:rPr lang="en-US" sz="2000" dirty="0" err="1" smtClean="0"/>
              <a:t>BERTopic</a:t>
            </a:r>
            <a:r>
              <a:rPr lang="en-US" sz="2000" dirty="0" smtClean="0"/>
              <a:t> (Dataset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</a:t>
            </a:r>
            <a:r>
              <a:rPr lang="en-US" sz="2000" dirty="0" err="1" smtClean="0"/>
              <a:t>Indonesia&amp;Inggris</a:t>
            </a:r>
            <a:r>
              <a:rPr lang="en-US" sz="20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Cari</a:t>
            </a:r>
            <a:r>
              <a:rPr lang="en-US" sz="2000" dirty="0" smtClean="0"/>
              <a:t> 10 </a:t>
            </a:r>
            <a:r>
              <a:rPr lang="en-US" sz="2000" dirty="0" err="1" smtClean="0"/>
              <a:t>Jurnal</a:t>
            </a:r>
            <a:r>
              <a:rPr lang="en-US" sz="2000" dirty="0" smtClean="0"/>
              <a:t> </a:t>
            </a:r>
            <a:r>
              <a:rPr lang="en-US" sz="2000" dirty="0" err="1" smtClean="0"/>
              <a:t>terkait</a:t>
            </a:r>
            <a:r>
              <a:rPr lang="en-US" sz="2000" dirty="0" smtClean="0"/>
              <a:t> </a:t>
            </a:r>
            <a:r>
              <a:rPr lang="en-US" sz="2000" dirty="0" err="1" smtClean="0"/>
              <a:t>pemanfaatan</a:t>
            </a:r>
            <a:r>
              <a:rPr lang="en-US" sz="2000" dirty="0" smtClean="0"/>
              <a:t> Topic Model (</a:t>
            </a:r>
            <a:r>
              <a:rPr lang="en-US" sz="2000" dirty="0" err="1" smtClean="0"/>
              <a:t>BERTopic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turunannya</a:t>
            </a:r>
            <a:r>
              <a:rPr lang="en-US" sz="2000" dirty="0" smtClean="0"/>
              <a:t>/related work)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Diskusikan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Forum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Tuliskan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laporan</a:t>
            </a:r>
            <a:r>
              <a:rPr lang="en-US" sz="2000" dirty="0" smtClean="0"/>
              <a:t> (</a:t>
            </a:r>
            <a:r>
              <a:rPr lang="en-US" sz="2000" dirty="0" err="1" smtClean="0"/>
              <a:t>dikumpulkan</a:t>
            </a:r>
            <a:r>
              <a:rPr lang="en-US" sz="2000" dirty="0" smtClean="0"/>
              <a:t> </a:t>
            </a:r>
            <a:r>
              <a:rPr lang="en-US" sz="2000" dirty="0" err="1" smtClean="0"/>
              <a:t>saat</a:t>
            </a:r>
            <a:r>
              <a:rPr lang="en-US" sz="2000" dirty="0" smtClean="0"/>
              <a:t> UAS)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Bandingkan</a:t>
            </a:r>
            <a:r>
              <a:rPr lang="en-US" sz="2000" dirty="0" smtClean="0"/>
              <a:t> </a:t>
            </a:r>
            <a:r>
              <a:rPr lang="en-US" sz="2000" dirty="0" err="1" smtClean="0"/>
              <a:t>hasil</a:t>
            </a:r>
            <a:r>
              <a:rPr lang="en-US" sz="2000" dirty="0" smtClean="0"/>
              <a:t> </a:t>
            </a:r>
            <a:r>
              <a:rPr lang="en-US" sz="2000" dirty="0" err="1" smtClean="0"/>
              <a:t>antara</a:t>
            </a:r>
            <a:r>
              <a:rPr lang="en-US" sz="2000" dirty="0" smtClean="0"/>
              <a:t> queen, </a:t>
            </a:r>
            <a:r>
              <a:rPr lang="en-US" sz="2000" dirty="0" err="1" smtClean="0"/>
              <a:t>chatgpt</a:t>
            </a:r>
            <a:r>
              <a:rPr lang="en-US" sz="2000" dirty="0" smtClean="0"/>
              <a:t>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gemini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48940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463B79C-F067-2CC5-3A40-7D4FC701FDEF}"/>
              </a:ext>
            </a:extLst>
          </p:cNvPr>
          <p:cNvGrpSpPr/>
          <p:nvPr/>
        </p:nvGrpSpPr>
        <p:grpSpPr>
          <a:xfrm>
            <a:off x="650240" y="2047985"/>
            <a:ext cx="7843520" cy="2430569"/>
            <a:chOff x="721360" y="2047985"/>
            <a:chExt cx="7843520" cy="24305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AB9031B-A1E8-803E-98A0-3B84983B5061}"/>
                </a:ext>
              </a:extLst>
            </p:cNvPr>
            <p:cNvSpPr/>
            <p:nvPr/>
          </p:nvSpPr>
          <p:spPr>
            <a:xfrm>
              <a:off x="3627120" y="2047985"/>
              <a:ext cx="4937760" cy="243056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556" name="Google Shape;1556;p43"/>
            <p:cNvSpPr/>
            <p:nvPr/>
          </p:nvSpPr>
          <p:spPr>
            <a:xfrm>
              <a:off x="721360" y="3449040"/>
              <a:ext cx="2444700" cy="481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9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Terima Kasih</a:t>
              </a:r>
              <a:endParaRPr sz="19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C15DBD-AFCB-3564-82D4-E42166A157AD}"/>
                </a:ext>
              </a:extLst>
            </p:cNvPr>
            <p:cNvSpPr txBox="1"/>
            <p:nvPr/>
          </p:nvSpPr>
          <p:spPr>
            <a:xfrm>
              <a:off x="3810000" y="2216830"/>
              <a:ext cx="4572000" cy="20928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None/>
              </a:pPr>
              <a:r>
                <a:rPr lang="en-US" sz="1800" dirty="0"/>
                <a:t>Agung Budi Susanto</a:t>
              </a:r>
            </a:p>
            <a:p>
              <a:pPr>
                <a:spcAft>
                  <a:spcPts val="1200"/>
                </a:spcAft>
                <a:buNone/>
              </a:pPr>
              <a:r>
                <a:rPr lang="en-US" sz="1800" dirty="0" err="1"/>
                <a:t>Dosen</a:t>
              </a:r>
              <a:r>
                <a:rPr lang="en-US" sz="1800" dirty="0"/>
                <a:t> – Universitas </a:t>
              </a:r>
              <a:r>
                <a:rPr lang="en-US" sz="1800" dirty="0" err="1"/>
                <a:t>Pamulang</a:t>
              </a:r>
              <a:endParaRPr lang="en-US" sz="1800" dirty="0"/>
            </a:p>
            <a:p>
              <a:pPr>
                <a:spcAft>
                  <a:spcPts val="1200"/>
                </a:spcAft>
                <a:buNone/>
              </a:pPr>
              <a:r>
                <a:rPr lang="en-US" sz="1800" dirty="0"/>
                <a:t>NIDK	: 8811620016</a:t>
              </a:r>
            </a:p>
            <a:p>
              <a:pPr>
                <a:spcAft>
                  <a:spcPts val="1200"/>
                </a:spcAft>
                <a:buNone/>
              </a:pPr>
              <a:r>
                <a:rPr lang="en-US" sz="1800" dirty="0"/>
                <a:t>Email	: </a:t>
              </a:r>
              <a:r>
                <a:rPr lang="en-US" sz="1800" dirty="0">
                  <a:hlinkClick r:id="rId3"/>
                </a:rPr>
                <a:t>dosen02680@unpam.ac.id</a:t>
              </a:r>
              <a:r>
                <a:rPr lang="en-US" sz="1800" dirty="0"/>
                <a:t> </a:t>
              </a:r>
            </a:p>
            <a:p>
              <a:pPr>
                <a:spcAft>
                  <a:spcPts val="1200"/>
                </a:spcAft>
                <a:buNone/>
              </a:pPr>
              <a:r>
                <a:rPr lang="en-US" sz="1800" dirty="0"/>
                <a:t>WA 	: 081316281847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386F67-6294-2700-4680-D50A512183D4}"/>
              </a:ext>
            </a:extLst>
          </p:cNvPr>
          <p:cNvGrpSpPr/>
          <p:nvPr/>
        </p:nvGrpSpPr>
        <p:grpSpPr>
          <a:xfrm>
            <a:off x="2565014" y="159613"/>
            <a:ext cx="4388850" cy="959979"/>
            <a:chOff x="2881580" y="22161"/>
            <a:chExt cx="4388850" cy="959979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116E972-333B-8113-369A-F8C3928330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1580" y="22161"/>
              <a:ext cx="959979" cy="959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34DD5F-69C5-6167-55C6-396C2166F471}"/>
                </a:ext>
              </a:extLst>
            </p:cNvPr>
            <p:cNvSpPr txBox="1"/>
            <p:nvPr/>
          </p:nvSpPr>
          <p:spPr>
            <a:xfrm>
              <a:off x="3969471" y="85590"/>
              <a:ext cx="33009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Universitas </a:t>
              </a:r>
              <a:r>
                <a:rPr lang="en-US" sz="2000" dirty="0" err="1"/>
                <a:t>Pamulang</a:t>
              </a:r>
              <a:endParaRPr lang="en-US" sz="2000" dirty="0"/>
            </a:p>
            <a:p>
              <a:pPr algn="ctr"/>
              <a:r>
                <a:rPr lang="en-US" sz="2000" dirty="0"/>
                <a:t>Magister Teknik </a:t>
              </a:r>
              <a:r>
                <a:rPr lang="en-US" sz="2000" dirty="0" err="1"/>
                <a:t>Informatika</a:t>
              </a:r>
              <a:endParaRPr lang="id-ID" sz="2000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14F065-1DE2-5FFE-C766-8C00789A22D3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72" y="844276"/>
              <a:ext cx="3300958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15296</TotalTime>
  <Words>211</Words>
  <Application>Microsoft Office PowerPoint</Application>
  <PresentationFormat>On-screen Show (16:9)</PresentationFormat>
  <Paragraphs>45</Paragraphs>
  <Slides>11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Fira Sans Extra Condensed SemiBold</vt:lpstr>
      <vt:lpstr>ui-monospace</vt:lpstr>
      <vt:lpstr>Arial</vt:lpstr>
      <vt:lpstr>Fira Sans Extra Condensed</vt:lpstr>
      <vt:lpstr>Roboto</vt:lpstr>
      <vt:lpstr>Big Data Infographics by Slidesgo</vt:lpstr>
      <vt:lpstr>Data Mining (Text Mining)</vt:lpstr>
      <vt:lpstr>Pertemuan 14 (Topic Model : BERTopic)</vt:lpstr>
      <vt:lpstr>Apa itu Pemodelan Topik?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Referensi Tambahan</vt:lpstr>
      <vt:lpstr>Tugas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dan  Tata Kelola IT</dc:title>
  <dc:creator>SNA</dc:creator>
  <cp:lastModifiedBy>KEMENKEU</cp:lastModifiedBy>
  <cp:revision>169</cp:revision>
  <dcterms:modified xsi:type="dcterms:W3CDTF">2025-12-12T13:21:58Z</dcterms:modified>
</cp:coreProperties>
</file>